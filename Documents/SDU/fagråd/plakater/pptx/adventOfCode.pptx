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9DDCFF"/>
    <a:srgbClr val="FFD702"/>
    <a:srgbClr val="DBDBA9"/>
    <a:srgbClr val="DA70D7"/>
    <a:srgbClr val="6EA058"/>
    <a:srgbClr val="4FCAB1"/>
    <a:srgbClr val="B6CEA8"/>
    <a:srgbClr val="CE9278"/>
    <a:srgbClr val="569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6" autoAdjust="0"/>
    <p:restoredTop sz="94678"/>
  </p:normalViewPr>
  <p:slideViewPr>
    <p:cSldViewPr snapToGrid="0">
      <p:cViewPr>
        <p:scale>
          <a:sx n="82" d="100"/>
          <a:sy n="82" d="100"/>
        </p:scale>
        <p:origin x="840" y="-43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Festive Christmas Background with Tree, Lights, and Snowflakes in Red and  Green | SplitShire">
            <a:extLst>
              <a:ext uri="{FF2B5EF4-FFF2-40B4-BE49-F238E27FC236}">
                <a16:creationId xmlns:a16="http://schemas.microsoft.com/office/drawing/2014/main" id="{26D39731-647B-41AB-0341-7BDB53CD4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5" r="1012"/>
          <a:stretch/>
        </p:blipFill>
        <p:spPr bwMode="auto">
          <a:xfrm rot="5400000">
            <a:off x="-3132139" y="3132139"/>
            <a:ext cx="21383627" cy="151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frundet rektangel 18">
            <a:extLst>
              <a:ext uri="{FF2B5EF4-FFF2-40B4-BE49-F238E27FC236}">
                <a16:creationId xmlns:a16="http://schemas.microsoft.com/office/drawing/2014/main" id="{FACE8364-92D0-6EFD-6FFB-4A314016728D}"/>
              </a:ext>
            </a:extLst>
          </p:cNvPr>
          <p:cNvSpPr/>
          <p:nvPr/>
        </p:nvSpPr>
        <p:spPr>
          <a:xfrm>
            <a:off x="1020875" y="5224472"/>
            <a:ext cx="13268562" cy="11649296"/>
          </a:xfrm>
          <a:prstGeom prst="roundRect">
            <a:avLst>
              <a:gd name="adj" fmla="val 5171"/>
            </a:avLst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E188D-4F58-4C34-48D9-E7B9D7F643A3}"/>
              </a:ext>
            </a:extLst>
          </p:cNvPr>
          <p:cNvSpPr txBox="1"/>
          <p:nvPr/>
        </p:nvSpPr>
        <p:spPr>
          <a:xfrm>
            <a:off x="-1010608" y="1000110"/>
            <a:ext cx="1714056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spc="-300" dirty="0">
                <a:solidFill>
                  <a:schemeClr val="bg1"/>
                </a:solidFill>
              </a:rPr>
              <a:t>IMADA</a:t>
            </a:r>
            <a:endParaRPr lang="da-DK" sz="28700" b="1" spc="-3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FC5AC-0081-0BEF-935C-7982FB774ACD}"/>
              </a:ext>
            </a:extLst>
          </p:cNvPr>
          <p:cNvSpPr txBox="1"/>
          <p:nvPr/>
        </p:nvSpPr>
        <p:spPr>
          <a:xfrm>
            <a:off x="-5508429" y="18521467"/>
            <a:ext cx="1714056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spc="-300" dirty="0">
                <a:solidFill>
                  <a:schemeClr val="bg1"/>
                </a:solidFill>
              </a:rPr>
              <a:t>1/12 -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FB892-AB04-0379-2909-02046613BC79}"/>
              </a:ext>
            </a:extLst>
          </p:cNvPr>
          <p:cNvSpPr txBox="1"/>
          <p:nvPr/>
        </p:nvSpPr>
        <p:spPr>
          <a:xfrm>
            <a:off x="-2195062" y="2620582"/>
            <a:ext cx="1950947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3800" b="1" spc="-300" dirty="0">
                <a:solidFill>
                  <a:schemeClr val="bg1"/>
                </a:solidFill>
              </a:rPr>
              <a:t>ADVENT of CODE</a:t>
            </a:r>
            <a:endParaRPr lang="da-DK" sz="9600" b="1" spc="-30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2756B8-B23F-FEF5-27C7-8A13E522C4EA}"/>
              </a:ext>
            </a:extLst>
          </p:cNvPr>
          <p:cNvSpPr/>
          <p:nvPr/>
        </p:nvSpPr>
        <p:spPr>
          <a:xfrm>
            <a:off x="10676284" y="17159063"/>
            <a:ext cx="3939270" cy="393927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B8CF192-4C75-447B-EF9E-3DB3AFDB826C}"/>
              </a:ext>
            </a:extLst>
          </p:cNvPr>
          <p:cNvSpPr txBox="1"/>
          <p:nvPr/>
        </p:nvSpPr>
        <p:spPr>
          <a:xfrm>
            <a:off x="7019365" y="-3200400"/>
            <a:ext cx="184731" cy="36933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2A7F2446-92C6-4100-5F68-86550FFBB115}"/>
              </a:ext>
            </a:extLst>
          </p:cNvPr>
          <p:cNvSpPr txBox="1"/>
          <p:nvPr/>
        </p:nvSpPr>
        <p:spPr>
          <a:xfrm>
            <a:off x="1374756" y="5436870"/>
            <a:ext cx="13565610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dirty="0">
                <a:solidFill>
                  <a:srgbClr val="CF94A5"/>
                </a:solidFill>
                <a:latin typeface="Helvetica" pitchFamily="2" charset="0"/>
              </a:rPr>
              <a:t>import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 err="1">
                <a:solidFill>
                  <a:srgbClr val="4FCAB1"/>
                </a:solidFill>
                <a:latin typeface="Helvetica" pitchFamily="2" charset="0"/>
              </a:rPr>
              <a:t>random</a:t>
            </a:r>
            <a:endParaRPr lang="da-DK" sz="3600" dirty="0">
              <a:solidFill>
                <a:srgbClr val="4FCAB1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rgbClr val="CF94A5"/>
                </a:solidFill>
                <a:latin typeface="Helvetica" pitchFamily="2" charset="0"/>
              </a:rPr>
              <a:t>import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4FCAB1"/>
                </a:solidFill>
                <a:latin typeface="Helvetica" pitchFamily="2" charset="0"/>
              </a:rPr>
              <a:t>time</a:t>
            </a:r>
          </a:p>
          <a:p>
            <a:endParaRPr lang="da-DK" sz="3600" dirty="0">
              <a:solidFill>
                <a:schemeClr val="bg1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rgbClr val="569CD7"/>
                </a:solidFill>
                <a:latin typeface="Helvetica" pitchFamily="2" charset="0"/>
              </a:rPr>
              <a:t>def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 err="1">
                <a:solidFill>
                  <a:srgbClr val="DBDBA9"/>
                </a:solidFill>
                <a:latin typeface="Helvetica" pitchFamily="2" charset="0"/>
              </a:rPr>
              <a:t>imada_julefrokost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 )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:</a:t>
            </a:r>
          </a:p>
          <a:p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    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snacks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=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[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”</a:t>
            </a:r>
            <a:r>
              <a:rPr lang="da-DK" sz="3600" dirty="0" err="1">
                <a:solidFill>
                  <a:srgbClr val="CE9278"/>
                </a:solidFill>
                <a:latin typeface="Helvetica" pitchFamily="2" charset="0"/>
              </a:rPr>
              <a:t>pepernødder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"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,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”chips"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]</a:t>
            </a:r>
            <a:endParaRPr lang="da-DK" sz="3600" dirty="0">
              <a:solidFill>
                <a:srgbClr val="CCCCCC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    drinks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=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[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”sodavand"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,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"øl"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,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”kaffe"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]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music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=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"Last Christmas"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guests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=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 err="1">
                <a:solidFill>
                  <a:srgbClr val="DBDBA9"/>
                </a:solidFill>
                <a:latin typeface="Helvetica" pitchFamily="2" charset="0"/>
              </a:rPr>
              <a:t>get_all_students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(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imada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)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</a:t>
            </a:r>
            <a:r>
              <a:rPr lang="da-DK" sz="3600" dirty="0" err="1">
                <a:solidFill>
                  <a:srgbClr val="CF94A5"/>
                </a:solidFill>
                <a:latin typeface="Helvetica" pitchFamily="2" charset="0"/>
              </a:rPr>
              <a:t>while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569CD7"/>
                </a:solidFill>
                <a:latin typeface="Helvetica" pitchFamily="2" charset="0"/>
              </a:rPr>
              <a:t>True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: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	 </a:t>
            </a:r>
            <a:r>
              <a:rPr lang="da-DK" sz="3600" dirty="0" err="1">
                <a:solidFill>
                  <a:srgbClr val="DBDBA9"/>
                </a:solidFill>
                <a:latin typeface="Helvetica" pitchFamily="2" charset="0"/>
              </a:rPr>
              <a:t>play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music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  <a:endParaRPr lang="da-DK" sz="3600" dirty="0">
              <a:solidFill>
                <a:schemeClr val="bg1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    </a:t>
            </a:r>
            <a:r>
              <a:rPr lang="da-DK" sz="3600" dirty="0">
                <a:solidFill>
                  <a:srgbClr val="CF94A5"/>
                </a:solidFill>
                <a:latin typeface="Helvetica" pitchFamily="2" charset="0"/>
              </a:rPr>
              <a:t>for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g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F94A5"/>
                </a:solidFill>
                <a:latin typeface="Helvetica" pitchFamily="2" charset="0"/>
              </a:rPr>
              <a:t>in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guests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:</a:t>
            </a:r>
          </a:p>
          <a:p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	     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snack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 = 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</a:t>
            </a:r>
            <a:r>
              <a:rPr lang="da-DK" sz="3600" dirty="0" err="1">
                <a:solidFill>
                  <a:srgbClr val="CCCCCC"/>
                </a:solidFill>
                <a:latin typeface="Helvetica" pitchFamily="2" charset="0"/>
              </a:rPr>
              <a:t>.choose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snacks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</a:p>
          <a:p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            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drink</a:t>
            </a:r>
            <a:r>
              <a:rPr lang="da-DK" sz="3600" dirty="0">
                <a:solidFill>
                  <a:srgbClr val="CCCCCC"/>
                </a:solidFill>
                <a:latin typeface="Helvetica" pitchFamily="2" charset="0"/>
              </a:rPr>
              <a:t> = 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</a:t>
            </a:r>
            <a:r>
              <a:rPr lang="da-DK" sz="3600" dirty="0" err="1">
                <a:solidFill>
                  <a:srgbClr val="CCCCCC"/>
                </a:solidFill>
                <a:latin typeface="Helvetica" pitchFamily="2" charset="0"/>
              </a:rPr>
              <a:t>.choose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drinks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	     </a:t>
            </a:r>
            <a:r>
              <a:rPr lang="da-DK" sz="3600" dirty="0">
                <a:solidFill>
                  <a:srgbClr val="DBDBA9"/>
                </a:solidFill>
                <a:latin typeface="Helvetica" pitchFamily="2" charset="0"/>
              </a:rPr>
              <a:t>print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>
                <a:solidFill>
                  <a:srgbClr val="569CD7"/>
                </a:solidFill>
                <a:latin typeface="Helvetica" pitchFamily="2" charset="0"/>
              </a:rPr>
              <a:t>f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"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{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</a:t>
            </a:r>
            <a:r>
              <a:rPr lang="da-DK" sz="3600" dirty="0" err="1">
                <a:solidFill>
                  <a:srgbClr val="CCCCCC"/>
                </a:solidFill>
                <a:latin typeface="Helvetica" pitchFamily="2" charset="0"/>
              </a:rPr>
              <a:t>.name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}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grabs </a:t>
            </a:r>
            <a:r>
              <a:rPr lang="da-DK" sz="3600" dirty="0" err="1">
                <a:solidFill>
                  <a:srgbClr val="CE9278"/>
                </a:solidFill>
                <a:latin typeface="Helvetica" pitchFamily="2" charset="0"/>
              </a:rPr>
              <a:t>some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{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snack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}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 and </a:t>
            </a:r>
            <a:r>
              <a:rPr lang="da-DK" sz="3600" dirty="0" err="1">
                <a:solidFill>
                  <a:srgbClr val="CE9278"/>
                </a:solidFill>
                <a:latin typeface="Helvetica" pitchFamily="2" charset="0"/>
              </a:rPr>
              <a:t>sips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{</a:t>
            </a:r>
            <a:r>
              <a:rPr lang="da-DK" sz="3600" dirty="0">
                <a:solidFill>
                  <a:srgbClr val="9DDCFF"/>
                </a:solidFill>
                <a:latin typeface="Helvetica" pitchFamily="2" charset="0"/>
              </a:rPr>
              <a:t>drink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}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!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  <a:endParaRPr lang="da-DK" sz="3600" dirty="0">
              <a:solidFill>
                <a:schemeClr val="bg1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        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        </a:t>
            </a:r>
            <a:r>
              <a:rPr lang="da-DK" sz="3600" dirty="0">
                <a:solidFill>
                  <a:srgbClr val="6EA058"/>
                </a:solidFill>
                <a:latin typeface="Helvetica" pitchFamily="2" charset="0"/>
              </a:rPr>
              <a:t># </a:t>
            </a:r>
            <a:r>
              <a:rPr lang="da-DK" sz="3600" dirty="0" err="1">
                <a:solidFill>
                  <a:srgbClr val="6EA058"/>
                </a:solidFill>
                <a:latin typeface="Helvetica" pitchFamily="2" charset="0"/>
              </a:rPr>
              <a:t>coding</a:t>
            </a:r>
            <a:r>
              <a:rPr lang="da-DK" sz="3600" dirty="0">
                <a:solidFill>
                  <a:srgbClr val="6EA058"/>
                </a:solidFill>
                <a:latin typeface="Helvetica" pitchFamily="2" charset="0"/>
              </a:rPr>
              <a:t> </a:t>
            </a:r>
            <a:r>
              <a:rPr lang="da-DK" sz="3600" dirty="0" err="1">
                <a:solidFill>
                  <a:srgbClr val="6EA058"/>
                </a:solidFill>
                <a:latin typeface="Helvetica" pitchFamily="2" charset="0"/>
              </a:rPr>
              <a:t>challenge</a:t>
            </a:r>
            <a:endParaRPr lang="da-DK" sz="3600" dirty="0">
              <a:solidFill>
                <a:srgbClr val="6EA058"/>
              </a:solidFill>
              <a:latin typeface="Helvetica" pitchFamily="2" charset="0"/>
            </a:endParaRP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           </a:t>
            </a:r>
            <a:r>
              <a:rPr lang="da-DK" sz="3600" dirty="0" err="1">
                <a:solidFill>
                  <a:srgbClr val="DBDBA9"/>
                </a:solidFill>
                <a:latin typeface="Helvetica" pitchFamily="2" charset="0"/>
              </a:rPr>
              <a:t>solve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puzzle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</a:p>
          <a:p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	     </a:t>
            </a:r>
            <a:r>
              <a:rPr lang="da-DK" sz="3600" dirty="0">
                <a:solidFill>
                  <a:srgbClr val="DBDBA9"/>
                </a:solidFill>
                <a:latin typeface="Helvetica" pitchFamily="2" charset="0"/>
              </a:rPr>
              <a:t>print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(</a:t>
            </a:r>
            <a:r>
              <a:rPr lang="da-DK" sz="3600" dirty="0">
                <a:solidFill>
                  <a:srgbClr val="569CD7"/>
                </a:solidFill>
                <a:latin typeface="Helvetica" pitchFamily="2" charset="0"/>
              </a:rPr>
              <a:t>f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"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{</a:t>
            </a:r>
            <a:r>
              <a:rPr lang="da-DK" sz="3600" dirty="0" err="1">
                <a:solidFill>
                  <a:srgbClr val="9DDCFF"/>
                </a:solidFill>
                <a:latin typeface="Helvetica" pitchFamily="2" charset="0"/>
              </a:rPr>
              <a:t>g</a:t>
            </a:r>
            <a:r>
              <a:rPr lang="da-DK" sz="3600" dirty="0" err="1">
                <a:solidFill>
                  <a:srgbClr val="CCCCCC"/>
                </a:solidFill>
                <a:latin typeface="Helvetica" pitchFamily="2" charset="0"/>
              </a:rPr>
              <a:t>.name</a:t>
            </a:r>
            <a:r>
              <a:rPr lang="da-DK" sz="3600" dirty="0">
                <a:solidFill>
                  <a:srgbClr val="DA70D7"/>
                </a:solidFill>
                <a:latin typeface="Helvetica" pitchFamily="2" charset="0"/>
              </a:rPr>
              <a:t>}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has </a:t>
            </a:r>
            <a:r>
              <a:rPr lang="da-DK" sz="3600" dirty="0" err="1">
                <a:solidFill>
                  <a:srgbClr val="CE9278"/>
                </a:solidFill>
                <a:latin typeface="Helvetica" pitchFamily="2" charset="0"/>
              </a:rPr>
              <a:t>solved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 the </a:t>
            </a:r>
            <a:r>
              <a:rPr lang="da-DK" sz="3600" dirty="0" err="1">
                <a:solidFill>
                  <a:srgbClr val="CE9278"/>
                </a:solidFill>
                <a:latin typeface="Helvetica" pitchFamily="2" charset="0"/>
              </a:rPr>
              <a:t>puzzle</a:t>
            </a:r>
            <a:r>
              <a:rPr lang="da-DK" sz="3600" dirty="0">
                <a:solidFill>
                  <a:srgbClr val="CE9278"/>
                </a:solidFill>
                <a:latin typeface="Helvetica" pitchFamily="2" charset="0"/>
              </a:rPr>
              <a:t>!</a:t>
            </a:r>
            <a:r>
              <a:rPr lang="da-DK" sz="3600" dirty="0">
                <a:solidFill>
                  <a:srgbClr val="FFD702"/>
                </a:solidFill>
                <a:latin typeface="Helvetica" pitchFamily="2" charset="0"/>
              </a:rPr>
              <a:t>)</a:t>
            </a:r>
            <a:r>
              <a:rPr lang="da-DK" sz="3600" dirty="0">
                <a:solidFill>
                  <a:schemeClr val="bg1"/>
                </a:solidFill>
                <a:latin typeface="Helvetica" pitchFamily="2" charset="0"/>
              </a:rPr>
              <a:t>	         </a:t>
            </a: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948</TotalTime>
  <Words>141</Words>
  <Application>Microsoft Macintosh PowerPoint</Application>
  <PresentationFormat>Brugerdefineret</PresentationFormat>
  <Paragraphs>23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4</cp:revision>
  <dcterms:created xsi:type="dcterms:W3CDTF">2025-01-24T19:08:08Z</dcterms:created>
  <dcterms:modified xsi:type="dcterms:W3CDTF">2025-11-24T12:17:52Z</dcterms:modified>
</cp:coreProperties>
</file>