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6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6262"/>
    <p:restoredTop sz="66930"/>
  </p:normalViewPr>
  <p:slideViewPr>
    <p:cSldViewPr snapToGrid="0">
      <p:cViewPr varScale="1">
        <p:scale>
          <a:sx n="10" d="100"/>
          <a:sy n="10" d="100"/>
        </p:scale>
        <p:origin x="184" y="63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705402-41F6-CF47-8692-3670ECA9F779}" type="datetimeFigureOut">
              <a:rPr lang="da-DK" smtClean="0"/>
              <a:t>23.02.2026</a:t>
            </a:fld>
            <a:endParaRPr lang="da-DK"/>
          </a:p>
        </p:txBody>
      </p:sp>
      <p:sp>
        <p:nvSpPr>
          <p:cNvPr id="4" name="Pladsholder til slide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DAE474-9F31-594C-989E-625BB2002A05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0307782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da-DK" dirty="0">
                <a:effectLst/>
                <a:latin typeface="Helvetica Neue" panose="02000503000000020004" pitchFamily="2" charset="0"/>
              </a:rPr>
              <a:t> Væltet vægen i saunaen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a-DK" dirty="0">
                <a:effectLst/>
                <a:latin typeface="Helvetica Neue" panose="02000503000000020004" pitchFamily="2" charset="0"/>
              </a:rPr>
              <a:t> Ommøbleret saunaen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a-DK" dirty="0">
                <a:effectLst/>
                <a:latin typeface="Helvetica Neue" panose="02000503000000020004" pitchFamily="2" charset="0"/>
              </a:rPr>
              <a:t> Ny kaffemaskine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a-DK" dirty="0">
                <a:effectLst/>
                <a:latin typeface="Helvetica Neue" panose="02000503000000020004" pitchFamily="2" charset="0"/>
              </a:rPr>
              <a:t> Ny kaffesponsor (</a:t>
            </a:r>
            <a:r>
              <a:rPr lang="da-DK" dirty="0" err="1">
                <a:effectLst/>
                <a:latin typeface="Helvetica Neue" panose="02000503000000020004" pitchFamily="2" charset="0"/>
              </a:rPr>
              <a:t>Foreflight</a:t>
            </a:r>
            <a:r>
              <a:rPr lang="da-DK" dirty="0">
                <a:effectLst/>
                <a:latin typeface="Helvetica Neue" panose="02000503000000020004" pitchFamily="2" charset="0"/>
              </a:rPr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a-DK" dirty="0">
                <a:effectLst/>
                <a:latin typeface="Helvetica Neue" panose="02000503000000020004" pitchFamily="2" charset="0"/>
              </a:rPr>
              <a:t> Vi har haft flere events, og derved enorm succes med sociale events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da-DK" sz="1200" dirty="0">
                <a:effectLst/>
                <a:latin typeface="Helvetica Neue" panose="02000503000000020004" pitchFamily="2" charset="0"/>
              </a:rPr>
              <a:t> Mal din egen kop, Skak, Quiz, Strik og Drik, Juleklip</a:t>
            </a:r>
            <a:endParaRPr lang="da-DK" dirty="0">
              <a:effectLst/>
              <a:latin typeface="Helvetica Neue" panose="02000503000000020004" pitchFamily="2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da-DK" dirty="0">
                <a:effectLst/>
                <a:latin typeface="Helvetica Neue" panose="02000503000000020004" pitchFamily="2" charset="0"/>
              </a:rPr>
              <a:t> Oprettet en officiel skakturnering med en flot pokal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a-DK" dirty="0">
                <a:effectLst/>
                <a:latin typeface="Helvetica Neue" panose="02000503000000020004" pitchFamily="2" charset="0"/>
              </a:rPr>
              <a:t> AR-midlerne (som sidste fagråd mistede)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a-DK" dirty="0">
                <a:effectLst/>
                <a:latin typeface="Helvetica Neue" panose="02000503000000020004" pitchFamily="2" charset="0"/>
              </a:rPr>
              <a:t> Opdelt økonomien mellem festudvalg og fagråd</a:t>
            </a:r>
          </a:p>
          <a:p>
            <a:r>
              <a:rPr lang="da-DK" dirty="0">
                <a:effectLst/>
                <a:latin typeface="Menlo" panose="020B0609030804020204" pitchFamily="49" charset="0"/>
              </a:rPr>
              <a:t>• </a:t>
            </a:r>
            <a:r>
              <a:rPr lang="da-DK" dirty="0">
                <a:effectLst/>
                <a:latin typeface="Helvetica Neue" panose="02000503000000020004" pitchFamily="2" charset="0"/>
              </a:rPr>
              <a:t>Samarbejde mellem fagrådene fra NAT</a:t>
            </a:r>
          </a:p>
          <a:p>
            <a:endParaRPr lang="da-DK" dirty="0"/>
          </a:p>
          <a:p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DAE474-9F31-594C-989E-625BB2002A05}" type="slidenum">
              <a:rPr lang="da-DK" smtClean="0"/>
              <a:t>3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9989583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FF1942-BA16-811E-F924-C49FF7CBA1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0E0CA6DB-595B-2B5B-E168-92A150EA24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06761D19-9202-C38E-9A67-5EF9139274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da-DK" dirty="0">
                <a:effectLst/>
                <a:latin typeface="Helvetica Neue" panose="02000503000000020004" pitchFamily="2" charset="0"/>
              </a:rPr>
              <a:t>Generel drift (</a:t>
            </a:r>
            <a:r>
              <a:rPr lang="da-DK" dirty="0" err="1">
                <a:effectLst/>
                <a:latin typeface="Helvetica Neue" panose="02000503000000020004" pitchFamily="2" charset="0"/>
              </a:rPr>
              <a:t>kaffemaksine</a:t>
            </a:r>
            <a:r>
              <a:rPr lang="da-DK" dirty="0">
                <a:effectLst/>
                <a:latin typeface="Helvetica Neue" panose="02000503000000020004" pitchFamily="2" charset="0"/>
              </a:rPr>
              <a:t>, skrald osv.)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a-DK" dirty="0">
                <a:effectLst/>
                <a:latin typeface="Helvetica Neue" panose="02000503000000020004" pitchFamily="2" charset="0"/>
              </a:rPr>
              <a:t> Deltagelse til møder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a-DK" dirty="0">
                <a:effectLst/>
                <a:latin typeface="Helvetica Neue" panose="02000503000000020004" pitchFamily="2" charset="0"/>
              </a:rPr>
              <a:t> Afholdelse af events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a-DK" dirty="0">
                <a:effectLst/>
                <a:latin typeface="Helvetica Neue" panose="02000503000000020004" pitchFamily="2" charset="0"/>
              </a:rPr>
              <a:t> Samarbejde med SDU 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da-DK" dirty="0">
                <a:effectLst/>
                <a:latin typeface="Helvetica Neue" panose="02000503000000020004" pitchFamily="2" charset="0"/>
              </a:rPr>
              <a:t> SDU/NAT </a:t>
            </a:r>
            <a:r>
              <a:rPr lang="da-DK" dirty="0" err="1">
                <a:effectLst/>
                <a:latin typeface="Helvetica Neue" panose="02000503000000020004" pitchFamily="2" charset="0"/>
              </a:rPr>
              <a:t>admin</a:t>
            </a:r>
            <a:endParaRPr lang="da-DK" dirty="0">
              <a:effectLst/>
              <a:latin typeface="Helvetica Neue" panose="02000503000000020004" pitchFamily="2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da-DK" dirty="0">
                <a:effectLst/>
                <a:latin typeface="Helvetica Neue" panose="02000503000000020004" pitchFamily="2" charset="0"/>
              </a:rPr>
              <a:t> Festministeriet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da-DK" dirty="0">
                <a:effectLst/>
                <a:latin typeface="Helvetica Neue" panose="02000503000000020004" pitchFamily="2" charset="0"/>
              </a:rPr>
              <a:t> Andre fagråd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da-DK" dirty="0">
                <a:effectLst/>
                <a:latin typeface="Helvetica Neue" panose="02000503000000020004" pitchFamily="2" charset="0"/>
              </a:rPr>
              <a:t> Andre eksterne grupper (fx. sponsorer)</a:t>
            </a:r>
          </a:p>
          <a:p>
            <a:r>
              <a:rPr lang="da-DK" dirty="0">
                <a:effectLst/>
                <a:latin typeface="Menlo" panose="020B0609030804020204" pitchFamily="49" charset="0"/>
              </a:rPr>
              <a:t>• </a:t>
            </a:r>
            <a:r>
              <a:rPr lang="da-DK" dirty="0">
                <a:effectLst/>
                <a:latin typeface="Helvetica Neue" panose="02000503000000020004" pitchFamily="2" charset="0"/>
              </a:rPr>
              <a:t>intro til nye studerende</a:t>
            </a:r>
          </a:p>
          <a:p>
            <a:endParaRPr lang="da-DK" dirty="0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AC4B9DA3-83E2-4E06-B447-461D824A3B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DAE474-9F31-594C-989E-625BB2002A05}" type="slidenum">
              <a:rPr lang="da-DK" smtClean="0"/>
              <a:t>4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310931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DAE474-9F31-594C-989E-625BB2002A05}" type="slidenum">
              <a:rPr lang="da-DK" smtClean="0"/>
              <a:t>5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6220588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DAE474-9F31-594C-989E-625BB2002A05}" type="slidenum">
              <a:rPr lang="da-DK" smtClean="0"/>
              <a:t>6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6078645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DAE474-9F31-594C-989E-625BB2002A05}" type="slidenum">
              <a:rPr lang="da-DK" smtClean="0"/>
              <a:t>8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8856615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DAE474-9F31-594C-989E-625BB2002A05}" type="slidenum">
              <a:rPr lang="da-DK" smtClean="0"/>
              <a:t>10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1599935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DAE474-9F31-594C-989E-625BB2002A05}" type="slidenum">
              <a:rPr lang="da-DK" smtClean="0"/>
              <a:t>11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3401073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AB472A-F753-400F-4E98-04228C9D1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DA24A21A-AB4D-50D0-E897-440E685554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07E18390-6E99-FF9A-9CE8-25D6BD598F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D8A27574-1C30-3430-5F49-16512F0B62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DAE474-9F31-594C-989E-625BB2002A05}" type="slidenum">
              <a:rPr lang="da-DK" smtClean="0"/>
              <a:t>13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1381134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/>
              <a:t>Klik for at redigere undertiteltypografien i masteren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2/23/26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dirty="0"/>
              <a:t>2/23/26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2/23/26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dirty="0"/>
              <a:t>2/23/26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dirty="0"/>
              <a:t>2/23/26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‹nr.›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dirty="0"/>
              <a:t>2/23/26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dirty="0"/>
              <a:t>2/23/26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dirty="0"/>
              <a:t>2/23/26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a-DK"/>
              <a:t>Klik på ikonet for at tilføje et billede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42B0DB6-F5C7-45FB-8CF3-31B45F9C2DAC}" type="datetimeFigureOut">
              <a:rPr lang="en-US" dirty="0"/>
              <a:t>2/23/26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dirty="0"/>
              <a:t>2/23/26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dirty="0"/>
              <a:t>2/23/26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dirty="0"/>
              <a:t>2/23/26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89B1A1-93D5-5E3B-4FEB-CE2B9AC0B93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/>
              <a:t>Generalforsamling</a:t>
            </a:r>
          </a:p>
        </p:txBody>
      </p:sp>
    </p:spTree>
    <p:extLst>
      <p:ext uri="{BB962C8B-B14F-4D97-AF65-F5344CB8AC3E}">
        <p14:creationId xmlns:p14="http://schemas.microsoft.com/office/powerpoint/2010/main" val="41239862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2A83ED-CD6A-53EC-D9EB-65CDF03D23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043684"/>
            <a:ext cx="7729728" cy="1188720"/>
          </a:xfrm>
        </p:spPr>
        <p:txBody>
          <a:bodyPr/>
          <a:lstStyle/>
          <a:p>
            <a:r>
              <a:rPr lang="da-DK" dirty="0"/>
              <a:t>Valg af dirigent</a:t>
            </a:r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93CDE6B2-7674-1264-9B2D-D328E43B3018}"/>
              </a:ext>
            </a:extLst>
          </p:cNvPr>
          <p:cNvSpPr txBox="1">
            <a:spLocks/>
          </p:cNvSpPr>
          <p:nvPr/>
        </p:nvSpPr>
        <p:spPr bwMode="black">
          <a:xfrm>
            <a:off x="2231136" y="3717036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a-DK" dirty="0"/>
              <a:t>Valg af referent</a:t>
            </a:r>
          </a:p>
        </p:txBody>
      </p:sp>
    </p:spTree>
    <p:extLst>
      <p:ext uri="{BB962C8B-B14F-4D97-AF65-F5344CB8AC3E}">
        <p14:creationId xmlns:p14="http://schemas.microsoft.com/office/powerpoint/2010/main" val="15427515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959CACC-1878-5376-9CD1-1FE8ECC9D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>
                <a:solidFill>
                  <a:srgbClr val="000000"/>
                </a:solidFill>
                <a:effectLst/>
                <a:latin typeface="Helvetica" pitchFamily="2" charset="0"/>
              </a:rPr>
              <a:t>Fagr</a:t>
            </a:r>
            <a:r>
              <a:rPr lang="da-DK" dirty="0">
                <a:solidFill>
                  <a:srgbClr val="000000"/>
                </a:solidFill>
                <a:latin typeface="Helvetica" pitchFamily="2" charset="0"/>
              </a:rPr>
              <a:t>å</a:t>
            </a:r>
            <a:r>
              <a:rPr lang="da-DK" dirty="0">
                <a:solidFill>
                  <a:srgbClr val="000000"/>
                </a:solidFill>
                <a:effectLst/>
                <a:latin typeface="Helvetica" pitchFamily="2" charset="0"/>
              </a:rPr>
              <a:t>dslederens beretning</a:t>
            </a:r>
            <a:endParaRPr lang="da-DK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C0B12657-4687-6F65-C7BC-D43154C866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da-DK" sz="2400" dirty="0">
                <a:effectLst/>
                <a:latin typeface="Helvetica Neue" panose="02000503000000020004" pitchFamily="2" charset="0"/>
              </a:rPr>
              <a:t>Det har vi gjort på et år:</a:t>
            </a:r>
          </a:p>
          <a:p>
            <a:pPr lvl="1"/>
            <a:r>
              <a:rPr lang="da-DK" sz="2000" dirty="0">
                <a:latin typeface="Helvetica Neue" panose="02000503000000020004" pitchFamily="2" charset="0"/>
              </a:rPr>
              <a:t>Saunaen</a:t>
            </a:r>
          </a:p>
          <a:p>
            <a:pPr lvl="2"/>
            <a:r>
              <a:rPr lang="da-DK" sz="2000" dirty="0">
                <a:latin typeface="Helvetica Neue" panose="02000503000000020004" pitchFamily="2" charset="0"/>
              </a:rPr>
              <a:t>Væggen, nye møbler, kaffemaskine og kaffesponsor</a:t>
            </a:r>
          </a:p>
          <a:p>
            <a:pPr lvl="1"/>
            <a:r>
              <a:rPr lang="da-DK" sz="2000" dirty="0">
                <a:effectLst/>
                <a:latin typeface="Helvetica Neue" panose="02000503000000020004" pitchFamily="2" charset="0"/>
              </a:rPr>
              <a:t>Events (Mal din egen kop, Skak, Quiz, Strik og Drik, Juleklip, F1)</a:t>
            </a:r>
          </a:p>
          <a:p>
            <a:pPr lvl="1"/>
            <a:r>
              <a:rPr lang="da-DK" sz="2000" dirty="0">
                <a:effectLst/>
                <a:latin typeface="Helvetica Neue" panose="02000503000000020004" pitchFamily="2" charset="0"/>
              </a:rPr>
              <a:t>AR-midler</a:t>
            </a:r>
          </a:p>
          <a:p>
            <a:pPr lvl="1"/>
            <a:r>
              <a:rPr lang="da-DK" sz="2000" dirty="0">
                <a:latin typeface="Helvetica Neue" panose="02000503000000020004" pitchFamily="2" charset="0"/>
              </a:rPr>
              <a:t>Økonomi mellem festministeriet og fagrådet</a:t>
            </a:r>
          </a:p>
          <a:p>
            <a:pPr lvl="1"/>
            <a:r>
              <a:rPr lang="da-DK" sz="2000" dirty="0">
                <a:effectLst/>
                <a:latin typeface="Helvetica Neue" panose="02000503000000020004" pitchFamily="2" charset="0"/>
              </a:rPr>
              <a:t>Samarbejde arbejde mellem institutter på NAT</a:t>
            </a:r>
          </a:p>
        </p:txBody>
      </p:sp>
    </p:spTree>
    <p:extLst>
      <p:ext uri="{BB962C8B-B14F-4D97-AF65-F5344CB8AC3E}">
        <p14:creationId xmlns:p14="http://schemas.microsoft.com/office/powerpoint/2010/main" val="42348957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C8D5C-E9CF-7719-C51D-4760D37AB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CF3B6F6-E5D7-6322-C0AF-8E9703814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>
                <a:solidFill>
                  <a:srgbClr val="000000"/>
                </a:solidFill>
                <a:effectLst/>
                <a:latin typeface="Helvetica" pitchFamily="2" charset="0"/>
              </a:rPr>
              <a:t>Fagr</a:t>
            </a:r>
            <a:r>
              <a:rPr lang="da-DK" dirty="0">
                <a:solidFill>
                  <a:srgbClr val="000000"/>
                </a:solidFill>
                <a:latin typeface="Helvetica" pitchFamily="2" charset="0"/>
              </a:rPr>
              <a:t>å</a:t>
            </a:r>
            <a:r>
              <a:rPr lang="da-DK" dirty="0">
                <a:solidFill>
                  <a:srgbClr val="000000"/>
                </a:solidFill>
                <a:effectLst/>
                <a:latin typeface="Helvetica" pitchFamily="2" charset="0"/>
              </a:rPr>
              <a:t>dslederens beretning</a:t>
            </a:r>
            <a:endParaRPr lang="da-DK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764E3B12-C575-679E-D594-644121004D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sz="2400" dirty="0">
                <a:effectLst/>
                <a:latin typeface="Helvetica Neue" panose="02000503000000020004" pitchFamily="2" charset="0"/>
              </a:rPr>
              <a:t>Arbejdsfordeling</a:t>
            </a:r>
          </a:p>
          <a:p>
            <a:pPr lvl="1"/>
            <a:r>
              <a:rPr lang="da-DK" sz="2000" dirty="0">
                <a:latin typeface="Helvetica Neue" panose="02000503000000020004" pitchFamily="2" charset="0"/>
              </a:rPr>
              <a:t>Generel drift af IMADA</a:t>
            </a:r>
          </a:p>
          <a:p>
            <a:pPr lvl="1"/>
            <a:r>
              <a:rPr lang="da-DK" sz="2000" dirty="0">
                <a:latin typeface="Helvetica Neue" panose="02000503000000020004" pitchFamily="2" charset="0"/>
              </a:rPr>
              <a:t>Deltagelse til møder</a:t>
            </a:r>
          </a:p>
          <a:p>
            <a:pPr lvl="1"/>
            <a:r>
              <a:rPr lang="da-DK" sz="2000" dirty="0">
                <a:latin typeface="Helvetica Neue" panose="02000503000000020004" pitchFamily="2" charset="0"/>
              </a:rPr>
              <a:t>Afholdelse af events</a:t>
            </a:r>
          </a:p>
          <a:p>
            <a:pPr lvl="1"/>
            <a:r>
              <a:rPr lang="da-DK" sz="2000" dirty="0">
                <a:latin typeface="Helvetica Neue" panose="02000503000000020004" pitchFamily="2" charset="0"/>
              </a:rPr>
              <a:t>Samarbejde udenfor IMADA</a:t>
            </a:r>
          </a:p>
          <a:p>
            <a:pPr lvl="1"/>
            <a:r>
              <a:rPr lang="da-DK" sz="2000" dirty="0">
                <a:latin typeface="Helvetica Neue" panose="02000503000000020004" pitchFamily="2" charset="0"/>
              </a:rPr>
              <a:t>Intro til nye studerende på IMADA (og NAT)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4964064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03A388B-ADA3-6F65-65FB-685FB27A5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>
                <a:solidFill>
                  <a:srgbClr val="000000"/>
                </a:solidFill>
                <a:effectLst/>
                <a:latin typeface="Helvetica" pitchFamily="2" charset="0"/>
              </a:rPr>
              <a:t>Fagr</a:t>
            </a:r>
            <a:r>
              <a:rPr lang="da-DK" dirty="0">
                <a:solidFill>
                  <a:srgbClr val="000000"/>
                </a:solidFill>
                <a:latin typeface="Helvetica" pitchFamily="2" charset="0"/>
              </a:rPr>
              <a:t>å</a:t>
            </a:r>
            <a:r>
              <a:rPr lang="da-DK" dirty="0">
                <a:solidFill>
                  <a:srgbClr val="000000"/>
                </a:solidFill>
                <a:effectLst/>
                <a:latin typeface="Helvetica" pitchFamily="2" charset="0"/>
              </a:rPr>
              <a:t>dslederens beretning</a:t>
            </a:r>
            <a:endParaRPr lang="da-DK" dirty="0"/>
          </a:p>
        </p:txBody>
      </p:sp>
      <p:sp>
        <p:nvSpPr>
          <p:cNvPr id="4" name="Pladsholder til indhold 2">
            <a:extLst>
              <a:ext uri="{FF2B5EF4-FFF2-40B4-BE49-F238E27FC236}">
                <a16:creationId xmlns:a16="http://schemas.microsoft.com/office/drawing/2014/main" id="{9C0FA1E9-2F8C-D2D2-1A61-D357F91072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a-DK" sz="2400" dirty="0">
                <a:effectLst/>
                <a:latin typeface="Helvetica Neue" panose="02000503000000020004" pitchFamily="2" charset="0"/>
              </a:rPr>
              <a:t>Fremad</a:t>
            </a:r>
            <a:endParaRPr lang="da-DK" sz="2200" dirty="0">
              <a:effectLst/>
              <a:latin typeface="Helvetica Neue" panose="02000503000000020004" pitchFamily="2" charset="0"/>
            </a:endParaRPr>
          </a:p>
          <a:p>
            <a:pPr lvl="1"/>
            <a:r>
              <a:rPr lang="da-DK" sz="2200" dirty="0">
                <a:effectLst/>
                <a:latin typeface="Helvetica Neue" panose="02000503000000020004" pitchFamily="2" charset="0"/>
              </a:rPr>
              <a:t>Mere samarbejde på tværs af institutterne</a:t>
            </a:r>
          </a:p>
          <a:p>
            <a:pPr lvl="1"/>
            <a:r>
              <a:rPr lang="da-DK" sz="2200" dirty="0">
                <a:latin typeface="Helvetica Neue" panose="02000503000000020004" pitchFamily="2" charset="0"/>
              </a:rPr>
              <a:t>Udstilling af bøger på IMADA</a:t>
            </a:r>
          </a:p>
          <a:p>
            <a:pPr lvl="1"/>
            <a:r>
              <a:rPr lang="da-DK" sz="2200" dirty="0">
                <a:latin typeface="Helvetica Neue" panose="02000503000000020004" pitchFamily="2" charset="0"/>
              </a:rPr>
              <a:t>Puslespil event</a:t>
            </a:r>
          </a:p>
          <a:p>
            <a:pPr lvl="1"/>
            <a:r>
              <a:rPr lang="da-DK" sz="2200" dirty="0">
                <a:latin typeface="Helvetica Neue" panose="02000503000000020004" pitchFamily="2" charset="0"/>
              </a:rPr>
              <a:t>Pant optimering</a:t>
            </a:r>
          </a:p>
          <a:p>
            <a:pPr lvl="1"/>
            <a:r>
              <a:rPr lang="da-DK" sz="2200" dirty="0">
                <a:latin typeface="Helvetica Neue" panose="02000503000000020004" pitchFamily="2" charset="0"/>
              </a:rPr>
              <a:t>Udvikling af projekter (SXC, intro)</a:t>
            </a:r>
          </a:p>
        </p:txBody>
      </p:sp>
    </p:spTree>
    <p:extLst>
      <p:ext uri="{BB962C8B-B14F-4D97-AF65-F5344CB8AC3E}">
        <p14:creationId xmlns:p14="http://schemas.microsoft.com/office/powerpoint/2010/main" val="4553239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8C0BB6-60B5-E4E3-4AE4-060D642DE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E7C5B22-BE12-5024-A41E-4CDF6988633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/>
              <a:t>ØKONOMI med </a:t>
            </a:r>
            <a:r>
              <a:rPr lang="da-DK" dirty="0" err="1"/>
              <a:t>daniel</a:t>
            </a:r>
            <a:r>
              <a:rPr lang="da-DK" dirty="0"/>
              <a:t> </a:t>
            </a:r>
            <a:r>
              <a:rPr lang="da-DK" dirty="0">
                <a:sym typeface="Wingdings" pitchFamily="2" charset="2"/>
              </a:rPr>
              <a:t>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4051360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5BA4E95-F599-BA94-2ECA-D3E6C2917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6AB16513-EE0B-DF61-BB5A-49CA6C3A1F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0261258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9360731-2D73-BDAC-6F57-CB5BAC96B9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a-DK" sz="2400" dirty="0">
                <a:solidFill>
                  <a:srgbClr val="000000"/>
                </a:solidFill>
                <a:effectLst/>
                <a:latin typeface="Helvetica" pitchFamily="2" charset="0"/>
              </a:rPr>
              <a:t>Behandling af indkomne forslag</a:t>
            </a:r>
            <a:endParaRPr lang="da-DK" sz="2400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F570B416-02B5-112D-D5CF-E855D2457A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sz="2400" dirty="0"/>
              <a:t>§4.3 Afstemninger foregår ved håndsoprækning, </a:t>
            </a:r>
            <a:r>
              <a:rPr lang="da-DK" sz="2400" dirty="0" err="1"/>
              <a:t>med-mindre</a:t>
            </a:r>
            <a:r>
              <a:rPr lang="da-DK" sz="2400" dirty="0"/>
              <a:t> mindst 2 fremmødte medlemmer ytrer ønske om skriftlig afstemning.</a:t>
            </a:r>
          </a:p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0397196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3FEC534-B751-52BC-58AC-59C79035A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>
                <a:solidFill>
                  <a:srgbClr val="000000"/>
                </a:solidFill>
                <a:effectLst/>
                <a:latin typeface="Helvetica" pitchFamily="2" charset="0"/>
              </a:rPr>
              <a:t>Valg af bestyrelsen</a:t>
            </a:r>
            <a:endParaRPr lang="da-DK" dirty="0"/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738FD466-1B1C-78A5-D532-9E20BA666B82}"/>
              </a:ext>
            </a:extLst>
          </p:cNvPr>
          <p:cNvSpPr txBox="1">
            <a:spLocks/>
          </p:cNvSpPr>
          <p:nvPr/>
        </p:nvSpPr>
        <p:spPr bwMode="black">
          <a:xfrm>
            <a:off x="2231136" y="2638044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a-DK" dirty="0"/>
              <a:t>Valg af fagrådsleder</a:t>
            </a:r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74835AF5-8F62-1644-A45E-C5FB8EDC21DC}"/>
              </a:ext>
            </a:extLst>
          </p:cNvPr>
          <p:cNvSpPr txBox="1">
            <a:spLocks/>
          </p:cNvSpPr>
          <p:nvPr/>
        </p:nvSpPr>
        <p:spPr bwMode="black">
          <a:xfrm>
            <a:off x="2231136" y="4311396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a-DK" dirty="0"/>
              <a:t>Valg af </a:t>
            </a:r>
            <a:r>
              <a:rPr lang="da-DK" dirty="0">
                <a:solidFill>
                  <a:srgbClr val="000000"/>
                </a:solidFill>
                <a:latin typeface="Helvetica" pitchFamily="2" charset="0"/>
              </a:rPr>
              <a:t>kasserer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052300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9B343CE-AD19-8CBC-FA8B-84C36BF64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a-DK" dirty="0">
                <a:solidFill>
                  <a:srgbClr val="000000"/>
                </a:solidFill>
                <a:effectLst/>
                <a:latin typeface="Helvetica" pitchFamily="2" charset="0"/>
              </a:rPr>
              <a:t>Valg af 6-8 medlemmer til bestyrelsen</a:t>
            </a:r>
            <a:endParaRPr lang="da-DK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6CD9D665-3137-1F67-BECF-6E3A81CDB7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sz="2400" dirty="0"/>
              <a:t>§4.3 Ved kampvalg til bestyrelsen foregår valget ved skriftlig afstemning, hvor hvert tilstedeværende medlem kan stemme på 5 af de opstillede kandidater. Hvis der ikke kan vælges en fuldtallig bestyrelse ved første afstemning, foretages der en ny afstemning blandt de </a:t>
            </a:r>
            <a:r>
              <a:rPr lang="da-DK" sz="2400" dirty="0" err="1"/>
              <a:t>resterlige</a:t>
            </a:r>
            <a:r>
              <a:rPr lang="da-DK" sz="2400" dirty="0"/>
              <a:t> kandidater, hvor hvert tilstedeværende medlem har 1 stemme.</a:t>
            </a:r>
          </a:p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4401565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900A14F-BF3A-283B-7764-528DCE07F1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>
                <a:solidFill>
                  <a:srgbClr val="000000"/>
                </a:solidFill>
                <a:effectLst/>
                <a:latin typeface="Helvetica" pitchFamily="2" charset="0"/>
              </a:rPr>
              <a:t>Valg af 2 interne revisorer</a:t>
            </a:r>
            <a:endParaRPr lang="da-DK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8699804B-3A90-003C-38C2-B12F86737B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6584619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EE696EA-2F80-AA04-EF60-858D77732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>
                <a:solidFill>
                  <a:srgbClr val="000000"/>
                </a:solidFill>
                <a:effectLst/>
                <a:latin typeface="Helvetica" pitchFamily="2" charset="0"/>
              </a:rPr>
              <a:t>Eventuelt</a:t>
            </a:r>
            <a:endParaRPr lang="da-DK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30E1A2C2-5655-DC6F-9D98-464D99D9BE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a-DK" sz="2800" dirty="0"/>
              <a:t>Er der noget eventuelt?</a:t>
            </a:r>
          </a:p>
        </p:txBody>
      </p:sp>
    </p:spTree>
    <p:extLst>
      <p:ext uri="{BB962C8B-B14F-4D97-AF65-F5344CB8AC3E}">
        <p14:creationId xmlns:p14="http://schemas.microsoft.com/office/powerpoint/2010/main" val="26593384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ECC1BE-1AEA-187C-516A-5FF638A0B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C7FF834-B204-4967-8D47-8BB36EAF0E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780A22D-61EA-43E3-BD94-3E39CF9021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918509"/>
            <a:ext cx="12192000" cy="193949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B263EE3-9C02-7548-7205-AE9FD5C2F0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0200" y="4269282"/>
            <a:ext cx="8991600" cy="1264762"/>
          </a:xfrm>
        </p:spPr>
        <p:txBody>
          <a:bodyPr>
            <a:normAutofit/>
          </a:bodyPr>
          <a:lstStyle/>
          <a:p>
            <a:r>
              <a:rPr lang="da-DK" sz="3200" dirty="0"/>
              <a:t>Tak for et godt møde </a:t>
            </a:r>
          </a:p>
        </p:txBody>
      </p:sp>
      <p:pic>
        <p:nvPicPr>
          <p:cNvPr id="6" name="Grafik 5" descr="Blinkende ansigt kontur">
            <a:extLst>
              <a:ext uri="{FF2B5EF4-FFF2-40B4-BE49-F238E27FC236}">
                <a16:creationId xmlns:a16="http://schemas.microsoft.com/office/drawing/2014/main" id="{3F195B2D-0CEC-992C-D239-6E6701580D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45346" y="640078"/>
            <a:ext cx="3301307" cy="3301307"/>
          </a:xfrm>
          <a:prstGeom prst="rect">
            <a:avLst/>
          </a:prstGeom>
        </p:spPr>
      </p:pic>
      <p:sp>
        <p:nvSpPr>
          <p:cNvPr id="3" name="Tekstfelt 2">
            <a:extLst>
              <a:ext uri="{FF2B5EF4-FFF2-40B4-BE49-F238E27FC236}">
                <a16:creationId xmlns:a16="http://schemas.microsoft.com/office/drawing/2014/main" id="{F8EEE3DF-1739-D2E8-F285-4D8D6C2FF860}"/>
              </a:ext>
            </a:extLst>
          </p:cNvPr>
          <p:cNvSpPr txBox="1"/>
          <p:nvPr/>
        </p:nvSpPr>
        <p:spPr>
          <a:xfrm>
            <a:off x="5209953" y="-10207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da-DK" b="1"/>
          </a:p>
        </p:txBody>
      </p:sp>
    </p:spTree>
    <p:extLst>
      <p:ext uri="{BB962C8B-B14F-4D97-AF65-F5344CB8AC3E}">
        <p14:creationId xmlns:p14="http://schemas.microsoft.com/office/powerpoint/2010/main" val="11299816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Pakke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Pakke</Template>
  <TotalTime>216</TotalTime>
  <Words>349</Words>
  <Application>Microsoft Macintosh PowerPoint</Application>
  <PresentationFormat>Widescreen</PresentationFormat>
  <Paragraphs>64</Paragraphs>
  <Slides>13</Slides>
  <Notes>8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7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13</vt:i4>
      </vt:variant>
    </vt:vector>
  </HeadingPairs>
  <TitlesOfParts>
    <vt:vector size="21" baseType="lpstr">
      <vt:lpstr>Aptos</vt:lpstr>
      <vt:lpstr>Arial</vt:lpstr>
      <vt:lpstr>Gill Sans MT</vt:lpstr>
      <vt:lpstr>Helvetica</vt:lpstr>
      <vt:lpstr>Helvetica Neue</vt:lpstr>
      <vt:lpstr>Menlo</vt:lpstr>
      <vt:lpstr>Wingdings</vt:lpstr>
      <vt:lpstr>Pakke</vt:lpstr>
      <vt:lpstr>Generalforsamling</vt:lpstr>
      <vt:lpstr>Valg af dirigent</vt:lpstr>
      <vt:lpstr>Fagrådslederens beretning</vt:lpstr>
      <vt:lpstr>Fagrådslederens beretning</vt:lpstr>
      <vt:lpstr>Fagrådslederens beretning</vt:lpstr>
      <vt:lpstr>ØKONOMI med daniel </vt:lpstr>
      <vt:lpstr>PowerPoint-præsentation</vt:lpstr>
      <vt:lpstr>Behandling af indkomne forslag</vt:lpstr>
      <vt:lpstr>Valg af bestyrelsen</vt:lpstr>
      <vt:lpstr>Valg af 6-8 medlemmer til bestyrelsen</vt:lpstr>
      <vt:lpstr>Valg af 2 interne revisorer</vt:lpstr>
      <vt:lpstr>Eventuelt</vt:lpstr>
      <vt:lpstr>Tak for et godt møde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Simon Holm</dc:creator>
  <cp:lastModifiedBy>Simon Holm</cp:lastModifiedBy>
  <cp:revision>3</cp:revision>
  <dcterms:created xsi:type="dcterms:W3CDTF">2026-02-16T11:26:18Z</dcterms:created>
  <dcterms:modified xsi:type="dcterms:W3CDTF">2026-02-23T08:28:46Z</dcterms:modified>
</cp:coreProperties>
</file>