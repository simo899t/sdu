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14"/>
    <p:restoredTop sz="66935"/>
  </p:normalViewPr>
  <p:slideViewPr>
    <p:cSldViewPr snapToGrid="0">
      <p:cViewPr varScale="1">
        <p:scale>
          <a:sx n="60" d="100"/>
          <a:sy n="60" d="100"/>
        </p:scale>
        <p:origin x="192" y="8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05402-41F6-CF47-8692-3670ECA9F779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AE474-9F31-594C-989E-625BB2002A0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077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Væltet vægen i saunaen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>
                <a:effectLst/>
                <a:latin typeface="Helvetica Neue" panose="02000503000000020004" pitchFamily="2" charset="0"/>
              </a:rPr>
              <a:t> Ommøbleret saunaen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Ny kaffemaskine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a-DK" dirty="0">
                <a:effectLst/>
                <a:latin typeface="Helvetica Neue" panose="02000503000000020004" pitchFamily="2" charset="0"/>
              </a:rPr>
              <a:t> Ny kaffesponsor (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Foreflight</a:t>
            </a:r>
            <a:r>
              <a:rPr lang="da-DK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Vi har haft flere events, og derved enorm succes med sociale events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sz="1200" dirty="0">
                <a:effectLst/>
                <a:latin typeface="Helvetica Neue" panose="02000503000000020004" pitchFamily="2" charset="0"/>
              </a:rPr>
              <a:t> Mal din egen kop, Skak, Quiz, Strik og Drik, Juleklip</a:t>
            </a:r>
            <a:endParaRPr lang="da-DK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Oprettet en officiel skakturnering med en flot pokal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AR-midlerne (som sidste fagråd mistede)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Opdelt økonomien mellem festudvalg og fagråd</a:t>
            </a:r>
          </a:p>
          <a:p>
            <a:r>
              <a:rPr lang="da-DK" dirty="0">
                <a:effectLst/>
                <a:latin typeface="Menlo" panose="020B0609030804020204" pitchFamily="49" charset="0"/>
              </a:rPr>
              <a:t>• </a:t>
            </a:r>
            <a:r>
              <a:rPr lang="da-DK" dirty="0">
                <a:effectLst/>
                <a:latin typeface="Helvetica Neue" panose="02000503000000020004" pitchFamily="2" charset="0"/>
              </a:rPr>
              <a:t>Samarbejde mellem fagrådene fra NAT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8958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1942-BA16-811E-F924-C49FF7CBA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E0CA6DB-595B-2B5B-E168-92A150EA2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6761D19-9202-C38E-9A67-5EF913927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a-DK" dirty="0">
                <a:effectLst/>
                <a:latin typeface="Helvetica Neue" panose="02000503000000020004" pitchFamily="2" charset="0"/>
              </a:rPr>
              <a:t>Generel drift (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kaffemaksine</a:t>
            </a:r>
            <a:r>
              <a:rPr lang="da-DK" dirty="0">
                <a:effectLst/>
                <a:latin typeface="Helvetica Neue" panose="02000503000000020004" pitchFamily="2" charset="0"/>
              </a:rPr>
              <a:t>, skrald osv.)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Deltagelse til møder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Afholdelse af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Samarbejde med SDU 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SDU/NAT </a:t>
            </a:r>
            <a:r>
              <a:rPr lang="da-DK" dirty="0" err="1">
                <a:effectLst/>
                <a:latin typeface="Helvetica Neue" panose="02000503000000020004" pitchFamily="2" charset="0"/>
              </a:rPr>
              <a:t>admin</a:t>
            </a:r>
            <a:endParaRPr lang="da-DK" dirty="0">
              <a:effectLst/>
              <a:latin typeface="Helvetica Neue" panose="02000503000000020004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Festministeriet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Andre fagråd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da-DK" dirty="0">
                <a:effectLst/>
                <a:latin typeface="Helvetica Neue" panose="02000503000000020004" pitchFamily="2" charset="0"/>
              </a:rPr>
              <a:t> Andre eksterne grupper (fx. sponsorer)</a:t>
            </a:r>
          </a:p>
          <a:p>
            <a:r>
              <a:rPr lang="da-DK" dirty="0">
                <a:effectLst/>
                <a:latin typeface="Menlo" panose="020B0609030804020204" pitchFamily="49" charset="0"/>
              </a:rPr>
              <a:t>• </a:t>
            </a:r>
            <a:r>
              <a:rPr lang="da-DK" dirty="0">
                <a:effectLst/>
                <a:latin typeface="Helvetica Neue" panose="02000503000000020004" pitchFamily="2" charset="0"/>
              </a:rPr>
              <a:t>intro til nye studerende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C4B9DA3-83E2-4E06-B447-461D824A3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093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205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07864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5661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9993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40107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B472A-F753-400F-4E98-04228C9D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A24A21A-AB4D-50D0-E897-440E68555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7E18390-6E99-FF9A-9CE8-25D6BD598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8A27574-1C30-3430-5F49-16512F0B6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AE474-9F31-594C-989E-625BB2002A05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8113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89B1A1-93D5-5E3B-4FEB-CE2B9AC0B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Generalforsamling</a:t>
            </a:r>
          </a:p>
        </p:txBody>
      </p:sp>
    </p:spTree>
    <p:extLst>
      <p:ext uri="{BB962C8B-B14F-4D97-AF65-F5344CB8AC3E}">
        <p14:creationId xmlns:p14="http://schemas.microsoft.com/office/powerpoint/2010/main" val="412398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2A83ED-CD6A-53EC-D9EB-65CDF03D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43684"/>
            <a:ext cx="7729728" cy="1188720"/>
          </a:xfrm>
        </p:spPr>
        <p:txBody>
          <a:bodyPr/>
          <a:lstStyle/>
          <a:p>
            <a:r>
              <a:rPr lang="da-DK" dirty="0"/>
              <a:t>Valg af dirigent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3CDE6B2-7674-1264-9B2D-D328E43B3018}"/>
              </a:ext>
            </a:extLst>
          </p:cNvPr>
          <p:cNvSpPr txBox="1">
            <a:spLocks/>
          </p:cNvSpPr>
          <p:nvPr/>
        </p:nvSpPr>
        <p:spPr bwMode="black">
          <a:xfrm>
            <a:off x="2231136" y="3717036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referent</a:t>
            </a:r>
          </a:p>
        </p:txBody>
      </p:sp>
    </p:spTree>
    <p:extLst>
      <p:ext uri="{BB962C8B-B14F-4D97-AF65-F5344CB8AC3E}">
        <p14:creationId xmlns:p14="http://schemas.microsoft.com/office/powerpoint/2010/main" val="1542751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9CACC-1878-5376-9CD1-1FE8ECC9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0B12657-4687-6F65-C7BC-D43154C86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a-DK" sz="2400" dirty="0">
                <a:effectLst/>
                <a:latin typeface="Helvetica Neue" panose="02000503000000020004" pitchFamily="2" charset="0"/>
              </a:rPr>
              <a:t>Det har vi gjort på et år: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Saunaen</a:t>
            </a:r>
          </a:p>
          <a:p>
            <a:pPr lvl="2"/>
            <a:r>
              <a:rPr lang="da-DK" sz="2000" dirty="0">
                <a:latin typeface="Helvetica Neue" panose="02000503000000020004" pitchFamily="2" charset="0"/>
              </a:rPr>
              <a:t>Væggen, nye møbler, kaffemaskine og kaffesponsor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Events (Mal din egen kop, Skak, Quiz, Strik og Drik, Juleklip, F1)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AR-midler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Økonomi mellem festministeriet og fagrådet</a:t>
            </a:r>
          </a:p>
          <a:p>
            <a:pPr lvl="1"/>
            <a:r>
              <a:rPr lang="da-DK" sz="2000" dirty="0">
                <a:effectLst/>
                <a:latin typeface="Helvetica Neue" panose="02000503000000020004" pitchFamily="2" charset="0"/>
              </a:rPr>
              <a:t>Samarbejde arbejde mellem institutter på NAT</a:t>
            </a:r>
          </a:p>
        </p:txBody>
      </p:sp>
    </p:spTree>
    <p:extLst>
      <p:ext uri="{BB962C8B-B14F-4D97-AF65-F5344CB8AC3E}">
        <p14:creationId xmlns:p14="http://schemas.microsoft.com/office/powerpoint/2010/main" val="423489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8D5C-E9CF-7719-C51D-4760D37AB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3B6F6-E5D7-6322-C0AF-8E970381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64E3B12-C575-679E-D594-644121004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>
                <a:effectLst/>
                <a:latin typeface="Helvetica Neue" panose="02000503000000020004" pitchFamily="2" charset="0"/>
              </a:rPr>
              <a:t>Arbejdsfordeling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Generel drift af IMADA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Deltagelse til møder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Afholdelse af events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Samarbejde udenfor IMADA</a:t>
            </a:r>
          </a:p>
          <a:p>
            <a:pPr lvl="1"/>
            <a:r>
              <a:rPr lang="da-DK" sz="2000" dirty="0">
                <a:latin typeface="Helvetica Neue" panose="02000503000000020004" pitchFamily="2" charset="0"/>
              </a:rPr>
              <a:t>Intro til nye studerende på IMADA (og NAT)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9640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3A388B-ADA3-6F65-65FB-685FB27A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Fagr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å</a:t>
            </a:r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dslederens beretning</a:t>
            </a:r>
            <a:endParaRPr lang="da-DK" dirty="0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9C0FA1E9-2F8C-D2D2-1A61-D357F9107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>
                <a:effectLst/>
                <a:latin typeface="Helvetica Neue" panose="02000503000000020004" pitchFamily="2" charset="0"/>
              </a:rPr>
              <a:t>Fremad</a:t>
            </a:r>
            <a:endParaRPr lang="da-DK" sz="2200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da-DK" sz="2200" dirty="0">
                <a:effectLst/>
                <a:latin typeface="Helvetica Neue" panose="02000503000000020004" pitchFamily="2" charset="0"/>
              </a:rPr>
              <a:t>Mere samarbejde på tværs af institutterne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Udstilling af bøger på IMADA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Puslespil event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Pant optimering</a:t>
            </a:r>
          </a:p>
          <a:p>
            <a:pPr lvl="1"/>
            <a:r>
              <a:rPr lang="da-DK" sz="2200" dirty="0">
                <a:latin typeface="Helvetica Neue" panose="02000503000000020004" pitchFamily="2" charset="0"/>
              </a:rPr>
              <a:t>Udvikling af projekter (SXC, intro)</a:t>
            </a:r>
          </a:p>
        </p:txBody>
      </p:sp>
    </p:spTree>
    <p:extLst>
      <p:ext uri="{BB962C8B-B14F-4D97-AF65-F5344CB8AC3E}">
        <p14:creationId xmlns:p14="http://schemas.microsoft.com/office/powerpoint/2010/main" val="45532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0BB6-60B5-E4E3-4AE4-060D642D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C5B22-BE12-5024-A41E-4CDF69886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ØKONOMI med </a:t>
            </a:r>
            <a:r>
              <a:rPr lang="da-DK" dirty="0" err="1"/>
              <a:t>daniel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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513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BA4E95-F599-BA94-2ECA-D3E6C291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AB16513-EE0B-DF61-BB5A-49CA6C3A1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26125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360731-2D73-BDAC-6F57-CB5BAC96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2400" dirty="0">
                <a:solidFill>
                  <a:srgbClr val="000000"/>
                </a:solidFill>
                <a:effectLst/>
                <a:latin typeface="Helvetica" pitchFamily="2" charset="0"/>
              </a:rPr>
              <a:t>Behandling af indkomne forslag</a:t>
            </a:r>
            <a:endParaRPr lang="da-DK" sz="240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570B416-02B5-112D-D5CF-E855D2457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/>
              <a:t>§4.3 Afstemninger foregår ved håndsoprækning, </a:t>
            </a:r>
            <a:r>
              <a:rPr lang="da-DK" sz="2400" dirty="0" err="1"/>
              <a:t>med-mindre</a:t>
            </a:r>
            <a:r>
              <a:rPr lang="da-DK" sz="2400" dirty="0"/>
              <a:t> mindst 2 fremmødte medlemmer ytrer ønske om skriftlig afstemning.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9719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FEC534-B751-52BC-58AC-59C79035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bestyrelsen</a:t>
            </a:r>
            <a:endParaRPr lang="da-DK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738FD466-1B1C-78A5-D532-9E20BA666B82}"/>
              </a:ext>
            </a:extLst>
          </p:cNvPr>
          <p:cNvSpPr txBox="1">
            <a:spLocks/>
          </p:cNvSpPr>
          <p:nvPr/>
        </p:nvSpPr>
        <p:spPr bwMode="black">
          <a:xfrm>
            <a:off x="2231136" y="2638044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fagrådsleder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4835AF5-8F62-1644-A45E-C5FB8EDC21DC}"/>
              </a:ext>
            </a:extLst>
          </p:cNvPr>
          <p:cNvSpPr txBox="1">
            <a:spLocks/>
          </p:cNvSpPr>
          <p:nvPr/>
        </p:nvSpPr>
        <p:spPr bwMode="black">
          <a:xfrm>
            <a:off x="2231136" y="4311396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/>
              <a:t>Valg af </a:t>
            </a:r>
            <a:r>
              <a:rPr lang="da-DK" dirty="0">
                <a:solidFill>
                  <a:srgbClr val="000000"/>
                </a:solidFill>
                <a:latin typeface="Helvetica" pitchFamily="2" charset="0"/>
              </a:rPr>
              <a:t>kasserer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5230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343CE-AD19-8CBC-FA8B-84C36BF6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6-8 medlemmer til bestyrelsen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CD9D665-3137-1F67-BECF-6E3A81CDB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2400" dirty="0"/>
              <a:t>§4.3 Ved kampvalg til bestyrelsen foregår valget ved skriftlig afstemning, hvor hvert tilstedeværende medlem kan stemme på 5 af de opstillede kandidater. Hvis der ikke kan vælges en fuldtallig bestyrelse ved første afstemning, foretages der en ny afstemning blandt de </a:t>
            </a:r>
            <a:r>
              <a:rPr lang="da-DK" sz="2400" dirty="0" err="1"/>
              <a:t>resterlige</a:t>
            </a:r>
            <a:r>
              <a:rPr lang="da-DK" sz="2400" dirty="0"/>
              <a:t> kandidater, hvor hvert tilstedeværende medlem har 1 stemme.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40156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0A14F-BF3A-283B-7764-528DCE07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Valg af 2 interne revisorer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699804B-3A90-003C-38C2-B12F86737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58461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696EA-2F80-AA04-EF60-858D77732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solidFill>
                  <a:srgbClr val="000000"/>
                </a:solidFill>
                <a:effectLst/>
                <a:latin typeface="Helvetica" pitchFamily="2" charset="0"/>
              </a:rPr>
              <a:t>Eventuelt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E1A2C2-5655-DC6F-9D98-464D99D9B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800" dirty="0"/>
              <a:t>Er der noget eventuelt?</a:t>
            </a:r>
          </a:p>
        </p:txBody>
      </p:sp>
    </p:spTree>
    <p:extLst>
      <p:ext uri="{BB962C8B-B14F-4D97-AF65-F5344CB8AC3E}">
        <p14:creationId xmlns:p14="http://schemas.microsoft.com/office/powerpoint/2010/main" val="2659338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CC1BE-1AEA-187C-516A-5FF638A0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263EE3-9C02-7548-7205-AE9FD5C2F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>
            <a:normAutofit/>
          </a:bodyPr>
          <a:lstStyle/>
          <a:p>
            <a:r>
              <a:rPr lang="da-DK" sz="3200" dirty="0"/>
              <a:t>Tak for et godt møde </a:t>
            </a:r>
          </a:p>
        </p:txBody>
      </p:sp>
      <p:pic>
        <p:nvPicPr>
          <p:cNvPr id="6" name="Grafik 5" descr="Blinkende ansigt kontur">
            <a:extLst>
              <a:ext uri="{FF2B5EF4-FFF2-40B4-BE49-F238E27FC236}">
                <a16:creationId xmlns:a16="http://schemas.microsoft.com/office/drawing/2014/main" id="{3F195B2D-0CEC-992C-D239-6E6701580D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346" y="640078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8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kk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Pakke</Template>
  <TotalTime>98</TotalTime>
  <Words>349</Words>
  <Application>Microsoft Macintosh PowerPoint</Application>
  <PresentationFormat>Widescreen</PresentationFormat>
  <Paragraphs>64</Paragraphs>
  <Slides>13</Slides>
  <Notes>8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21" baseType="lpstr">
      <vt:lpstr>Aptos</vt:lpstr>
      <vt:lpstr>Arial</vt:lpstr>
      <vt:lpstr>Gill Sans MT</vt:lpstr>
      <vt:lpstr>Helvetica</vt:lpstr>
      <vt:lpstr>Helvetica Neue</vt:lpstr>
      <vt:lpstr>Menlo</vt:lpstr>
      <vt:lpstr>Wingdings</vt:lpstr>
      <vt:lpstr>Pakke</vt:lpstr>
      <vt:lpstr>Generalforsamling</vt:lpstr>
      <vt:lpstr>Valg af dirigent</vt:lpstr>
      <vt:lpstr>Fagrådslederens beretning</vt:lpstr>
      <vt:lpstr>Fagrådslederens beretning</vt:lpstr>
      <vt:lpstr>Fagrådslederens beretning</vt:lpstr>
      <vt:lpstr>ØKONOMI med daniel </vt:lpstr>
      <vt:lpstr>PowerPoint-præsentation</vt:lpstr>
      <vt:lpstr>Behandling af indkomne forslag</vt:lpstr>
      <vt:lpstr>Valg af bestyrelsen</vt:lpstr>
      <vt:lpstr>Valg af 6-8 medlemmer til bestyrelsen</vt:lpstr>
      <vt:lpstr>Valg af 2 interne revisorer</vt:lpstr>
      <vt:lpstr>Eventuelt</vt:lpstr>
      <vt:lpstr>Tak for et godt møde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2</cp:revision>
  <dcterms:created xsi:type="dcterms:W3CDTF">2026-02-16T11:26:18Z</dcterms:created>
  <dcterms:modified xsi:type="dcterms:W3CDTF">2026-02-22T17:05:33Z</dcterms:modified>
</cp:coreProperties>
</file>